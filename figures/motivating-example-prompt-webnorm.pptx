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</p:sldIdLst>
  <p:sldSz cx="10980738" cy="3060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BEB"/>
    <a:srgbClr val="B7DB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238" y="1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2592" y="500906"/>
            <a:ext cx="8235554" cy="1065577"/>
          </a:xfrm>
        </p:spPr>
        <p:txBody>
          <a:bodyPr anchor="b"/>
          <a:lstStyle>
            <a:lvl1pPr algn="ctr">
              <a:defRPr sz="2678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2592" y="1607576"/>
            <a:ext cx="8235554" cy="738960"/>
          </a:xfrm>
        </p:spPr>
        <p:txBody>
          <a:bodyPr/>
          <a:lstStyle>
            <a:lvl1pPr marL="0" indent="0" algn="ctr">
              <a:buNone/>
              <a:defRPr sz="1071"/>
            </a:lvl1pPr>
            <a:lvl2pPr marL="204048" indent="0" algn="ctr">
              <a:buNone/>
              <a:defRPr sz="893"/>
            </a:lvl2pPr>
            <a:lvl3pPr marL="408097" indent="0" algn="ctr">
              <a:buNone/>
              <a:defRPr sz="803"/>
            </a:lvl3pPr>
            <a:lvl4pPr marL="612145" indent="0" algn="ctr">
              <a:buNone/>
              <a:defRPr sz="714"/>
            </a:lvl4pPr>
            <a:lvl5pPr marL="816193" indent="0" algn="ctr">
              <a:buNone/>
              <a:defRPr sz="714"/>
            </a:lvl5pPr>
            <a:lvl6pPr marL="1020242" indent="0" algn="ctr">
              <a:buNone/>
              <a:defRPr sz="714"/>
            </a:lvl6pPr>
            <a:lvl7pPr marL="1224290" indent="0" algn="ctr">
              <a:buNone/>
              <a:defRPr sz="714"/>
            </a:lvl7pPr>
            <a:lvl8pPr marL="1428339" indent="0" algn="ctr">
              <a:buNone/>
              <a:defRPr sz="714"/>
            </a:lvl8pPr>
            <a:lvl9pPr marL="1632387" indent="0" algn="ctr">
              <a:buNone/>
              <a:defRPr sz="714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BF4D7-5A11-40FE-9659-B79F5352054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569A-15B6-4261-8598-679EE1C8E0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865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BF4D7-5A11-40FE-9659-B79F5352054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569A-15B6-4261-8598-679EE1C8E0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104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206" y="763050"/>
            <a:ext cx="9470887" cy="1273166"/>
          </a:xfrm>
        </p:spPr>
        <p:txBody>
          <a:bodyPr anchor="b"/>
          <a:lstStyle>
            <a:lvl1pPr>
              <a:defRPr sz="2678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9206" y="2048261"/>
            <a:ext cx="9470887" cy="669528"/>
          </a:xfrm>
        </p:spPr>
        <p:txBody>
          <a:bodyPr/>
          <a:lstStyle>
            <a:lvl1pPr marL="0" indent="0">
              <a:buNone/>
              <a:defRPr sz="1071">
                <a:solidFill>
                  <a:schemeClr val="tx1">
                    <a:tint val="82000"/>
                  </a:schemeClr>
                </a:solidFill>
              </a:defRPr>
            </a:lvl1pPr>
            <a:lvl2pPr marL="204048" indent="0">
              <a:buNone/>
              <a:defRPr sz="893">
                <a:solidFill>
                  <a:schemeClr val="tx1">
                    <a:tint val="82000"/>
                  </a:schemeClr>
                </a:solidFill>
              </a:defRPr>
            </a:lvl2pPr>
            <a:lvl3pPr marL="408097" indent="0">
              <a:buNone/>
              <a:defRPr sz="803">
                <a:solidFill>
                  <a:schemeClr val="tx1">
                    <a:tint val="82000"/>
                  </a:schemeClr>
                </a:solidFill>
              </a:defRPr>
            </a:lvl3pPr>
            <a:lvl4pPr marL="612145" indent="0">
              <a:buNone/>
              <a:defRPr sz="714">
                <a:solidFill>
                  <a:schemeClr val="tx1">
                    <a:tint val="82000"/>
                  </a:schemeClr>
                </a:solidFill>
              </a:defRPr>
            </a:lvl4pPr>
            <a:lvl5pPr marL="816193" indent="0">
              <a:buNone/>
              <a:defRPr sz="714">
                <a:solidFill>
                  <a:schemeClr val="tx1">
                    <a:tint val="82000"/>
                  </a:schemeClr>
                </a:solidFill>
              </a:defRPr>
            </a:lvl5pPr>
            <a:lvl6pPr marL="1020242" indent="0">
              <a:buNone/>
              <a:defRPr sz="714">
                <a:solidFill>
                  <a:schemeClr val="tx1">
                    <a:tint val="82000"/>
                  </a:schemeClr>
                </a:solidFill>
              </a:defRPr>
            </a:lvl6pPr>
            <a:lvl7pPr marL="1224290" indent="0">
              <a:buNone/>
              <a:defRPr sz="714">
                <a:solidFill>
                  <a:schemeClr val="tx1">
                    <a:tint val="82000"/>
                  </a:schemeClr>
                </a:solidFill>
              </a:defRPr>
            </a:lvl7pPr>
            <a:lvl8pPr marL="1428339" indent="0">
              <a:buNone/>
              <a:defRPr sz="714">
                <a:solidFill>
                  <a:schemeClr val="tx1">
                    <a:tint val="82000"/>
                  </a:schemeClr>
                </a:solidFill>
              </a:defRPr>
            </a:lvl8pPr>
            <a:lvl9pPr marL="1632387" indent="0">
              <a:buNone/>
              <a:defRPr sz="71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BF4D7-5A11-40FE-9659-B79F5352054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569A-15B6-4261-8598-679EE1C8E0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412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926" y="814770"/>
            <a:ext cx="4666814" cy="1941986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8998" y="814770"/>
            <a:ext cx="4666814" cy="1941986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BF4D7-5A11-40FE-9659-B79F5352054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569A-15B6-4261-8598-679EE1C8E0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138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356" y="162954"/>
            <a:ext cx="9470887" cy="591594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357" y="750297"/>
            <a:ext cx="4645366" cy="367709"/>
          </a:xfrm>
        </p:spPr>
        <p:txBody>
          <a:bodyPr anchor="b"/>
          <a:lstStyle>
            <a:lvl1pPr marL="0" indent="0">
              <a:buNone/>
              <a:defRPr sz="1071" b="1"/>
            </a:lvl1pPr>
            <a:lvl2pPr marL="204048" indent="0">
              <a:buNone/>
              <a:defRPr sz="893" b="1"/>
            </a:lvl2pPr>
            <a:lvl3pPr marL="408097" indent="0">
              <a:buNone/>
              <a:defRPr sz="803" b="1"/>
            </a:lvl3pPr>
            <a:lvl4pPr marL="612145" indent="0">
              <a:buNone/>
              <a:defRPr sz="714" b="1"/>
            </a:lvl4pPr>
            <a:lvl5pPr marL="816193" indent="0">
              <a:buNone/>
              <a:defRPr sz="714" b="1"/>
            </a:lvl5pPr>
            <a:lvl6pPr marL="1020242" indent="0">
              <a:buNone/>
              <a:defRPr sz="714" b="1"/>
            </a:lvl6pPr>
            <a:lvl7pPr marL="1224290" indent="0">
              <a:buNone/>
              <a:defRPr sz="714" b="1"/>
            </a:lvl7pPr>
            <a:lvl8pPr marL="1428339" indent="0">
              <a:buNone/>
              <a:defRPr sz="714" b="1"/>
            </a:lvl8pPr>
            <a:lvl9pPr marL="1632387" indent="0">
              <a:buNone/>
              <a:defRPr sz="714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6357" y="1118006"/>
            <a:ext cx="4645366" cy="164441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8999" y="750297"/>
            <a:ext cx="4668244" cy="367709"/>
          </a:xfrm>
        </p:spPr>
        <p:txBody>
          <a:bodyPr anchor="b"/>
          <a:lstStyle>
            <a:lvl1pPr marL="0" indent="0">
              <a:buNone/>
              <a:defRPr sz="1071" b="1"/>
            </a:lvl1pPr>
            <a:lvl2pPr marL="204048" indent="0">
              <a:buNone/>
              <a:defRPr sz="893" b="1"/>
            </a:lvl2pPr>
            <a:lvl3pPr marL="408097" indent="0">
              <a:buNone/>
              <a:defRPr sz="803" b="1"/>
            </a:lvl3pPr>
            <a:lvl4pPr marL="612145" indent="0">
              <a:buNone/>
              <a:defRPr sz="714" b="1"/>
            </a:lvl4pPr>
            <a:lvl5pPr marL="816193" indent="0">
              <a:buNone/>
              <a:defRPr sz="714" b="1"/>
            </a:lvl5pPr>
            <a:lvl6pPr marL="1020242" indent="0">
              <a:buNone/>
              <a:defRPr sz="714" b="1"/>
            </a:lvl6pPr>
            <a:lvl7pPr marL="1224290" indent="0">
              <a:buNone/>
              <a:defRPr sz="714" b="1"/>
            </a:lvl7pPr>
            <a:lvl8pPr marL="1428339" indent="0">
              <a:buNone/>
              <a:defRPr sz="714" b="1"/>
            </a:lvl8pPr>
            <a:lvl9pPr marL="1632387" indent="0">
              <a:buNone/>
              <a:defRPr sz="714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8999" y="1118006"/>
            <a:ext cx="4668244" cy="164441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BF4D7-5A11-40FE-9659-B79F5352054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569A-15B6-4261-8598-679EE1C8E0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74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BF4D7-5A11-40FE-9659-B79F5352054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569A-15B6-4261-8598-679EE1C8E0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701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BF4D7-5A11-40FE-9659-B79F5352054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569A-15B6-4261-8598-679EE1C8E0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779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356" y="204047"/>
            <a:ext cx="3541574" cy="714163"/>
          </a:xfrm>
        </p:spPr>
        <p:txBody>
          <a:bodyPr anchor="b"/>
          <a:lstStyle>
            <a:lvl1pPr>
              <a:defRPr sz="1428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8244" y="440684"/>
            <a:ext cx="5558999" cy="2175081"/>
          </a:xfrm>
        </p:spPr>
        <p:txBody>
          <a:bodyPr/>
          <a:lstStyle>
            <a:lvl1pPr>
              <a:defRPr sz="1428"/>
            </a:lvl1pPr>
            <a:lvl2pPr>
              <a:defRPr sz="1250"/>
            </a:lvl2pPr>
            <a:lvl3pPr>
              <a:defRPr sz="1071"/>
            </a:lvl3pPr>
            <a:lvl4pPr>
              <a:defRPr sz="893"/>
            </a:lvl4pPr>
            <a:lvl5pPr>
              <a:defRPr sz="893"/>
            </a:lvl5pPr>
            <a:lvl6pPr>
              <a:defRPr sz="893"/>
            </a:lvl6pPr>
            <a:lvl7pPr>
              <a:defRPr sz="893"/>
            </a:lvl7pPr>
            <a:lvl8pPr>
              <a:defRPr sz="893"/>
            </a:lvl8pPr>
            <a:lvl9pPr>
              <a:defRPr sz="893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6356" y="918210"/>
            <a:ext cx="3541574" cy="1701098"/>
          </a:xfrm>
        </p:spPr>
        <p:txBody>
          <a:bodyPr/>
          <a:lstStyle>
            <a:lvl1pPr marL="0" indent="0">
              <a:buNone/>
              <a:defRPr sz="714"/>
            </a:lvl1pPr>
            <a:lvl2pPr marL="204048" indent="0">
              <a:buNone/>
              <a:defRPr sz="625"/>
            </a:lvl2pPr>
            <a:lvl3pPr marL="408097" indent="0">
              <a:buNone/>
              <a:defRPr sz="536"/>
            </a:lvl3pPr>
            <a:lvl4pPr marL="612145" indent="0">
              <a:buNone/>
              <a:defRPr sz="446"/>
            </a:lvl4pPr>
            <a:lvl5pPr marL="816193" indent="0">
              <a:buNone/>
              <a:defRPr sz="446"/>
            </a:lvl5pPr>
            <a:lvl6pPr marL="1020242" indent="0">
              <a:buNone/>
              <a:defRPr sz="446"/>
            </a:lvl6pPr>
            <a:lvl7pPr marL="1224290" indent="0">
              <a:buNone/>
              <a:defRPr sz="446"/>
            </a:lvl7pPr>
            <a:lvl8pPr marL="1428339" indent="0">
              <a:buNone/>
              <a:defRPr sz="446"/>
            </a:lvl8pPr>
            <a:lvl9pPr marL="1632387" indent="0">
              <a:buNone/>
              <a:defRPr sz="44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BF4D7-5A11-40FE-9659-B79F5352054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569A-15B6-4261-8598-679EE1C8E0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399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356" y="204047"/>
            <a:ext cx="3541574" cy="714163"/>
          </a:xfrm>
        </p:spPr>
        <p:txBody>
          <a:bodyPr anchor="b"/>
          <a:lstStyle>
            <a:lvl1pPr>
              <a:defRPr sz="1428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8244" y="440684"/>
            <a:ext cx="5558999" cy="2175081"/>
          </a:xfrm>
        </p:spPr>
        <p:txBody>
          <a:bodyPr anchor="t"/>
          <a:lstStyle>
            <a:lvl1pPr marL="0" indent="0">
              <a:buNone/>
              <a:defRPr sz="1428"/>
            </a:lvl1pPr>
            <a:lvl2pPr marL="204048" indent="0">
              <a:buNone/>
              <a:defRPr sz="1250"/>
            </a:lvl2pPr>
            <a:lvl3pPr marL="408097" indent="0">
              <a:buNone/>
              <a:defRPr sz="1071"/>
            </a:lvl3pPr>
            <a:lvl4pPr marL="612145" indent="0">
              <a:buNone/>
              <a:defRPr sz="893"/>
            </a:lvl4pPr>
            <a:lvl5pPr marL="816193" indent="0">
              <a:buNone/>
              <a:defRPr sz="893"/>
            </a:lvl5pPr>
            <a:lvl6pPr marL="1020242" indent="0">
              <a:buNone/>
              <a:defRPr sz="893"/>
            </a:lvl6pPr>
            <a:lvl7pPr marL="1224290" indent="0">
              <a:buNone/>
              <a:defRPr sz="893"/>
            </a:lvl7pPr>
            <a:lvl8pPr marL="1428339" indent="0">
              <a:buNone/>
              <a:defRPr sz="893"/>
            </a:lvl8pPr>
            <a:lvl9pPr marL="1632387" indent="0">
              <a:buNone/>
              <a:defRPr sz="893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6356" y="918210"/>
            <a:ext cx="3541574" cy="1701098"/>
          </a:xfrm>
        </p:spPr>
        <p:txBody>
          <a:bodyPr/>
          <a:lstStyle>
            <a:lvl1pPr marL="0" indent="0">
              <a:buNone/>
              <a:defRPr sz="714"/>
            </a:lvl1pPr>
            <a:lvl2pPr marL="204048" indent="0">
              <a:buNone/>
              <a:defRPr sz="625"/>
            </a:lvl2pPr>
            <a:lvl3pPr marL="408097" indent="0">
              <a:buNone/>
              <a:defRPr sz="536"/>
            </a:lvl3pPr>
            <a:lvl4pPr marL="612145" indent="0">
              <a:buNone/>
              <a:defRPr sz="446"/>
            </a:lvl4pPr>
            <a:lvl5pPr marL="816193" indent="0">
              <a:buNone/>
              <a:defRPr sz="446"/>
            </a:lvl5pPr>
            <a:lvl6pPr marL="1020242" indent="0">
              <a:buNone/>
              <a:defRPr sz="446"/>
            </a:lvl6pPr>
            <a:lvl7pPr marL="1224290" indent="0">
              <a:buNone/>
              <a:defRPr sz="446"/>
            </a:lvl7pPr>
            <a:lvl8pPr marL="1428339" indent="0">
              <a:buNone/>
              <a:defRPr sz="446"/>
            </a:lvl8pPr>
            <a:lvl9pPr marL="1632387" indent="0">
              <a:buNone/>
              <a:defRPr sz="44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BF4D7-5A11-40FE-9659-B79F5352054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569A-15B6-4261-8598-679EE1C8E0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142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BF4D7-5A11-40FE-9659-B79F5352054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569A-15B6-4261-8598-679EE1C8E0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28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8090" y="162954"/>
            <a:ext cx="2367722" cy="2593802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926" y="162954"/>
            <a:ext cx="6965906" cy="2593802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BF4D7-5A11-40FE-9659-B79F5352054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569A-15B6-4261-8598-679EE1C8E0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98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926" y="162954"/>
            <a:ext cx="9470887" cy="591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926" y="814770"/>
            <a:ext cx="9470887" cy="1941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926" y="2836816"/>
            <a:ext cx="2470666" cy="16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4BF4D7-5A11-40FE-9659-B79F5352054F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7370" y="2836816"/>
            <a:ext cx="3705999" cy="16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55146" y="2836816"/>
            <a:ext cx="2470666" cy="16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8C569A-15B6-4261-8598-679EE1C8E0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736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408097" rtl="0" eaLnBrk="1" latinLnBrk="0" hangingPunct="1">
        <a:lnSpc>
          <a:spcPct val="90000"/>
        </a:lnSpc>
        <a:spcBef>
          <a:spcPct val="0"/>
        </a:spcBef>
        <a:buNone/>
        <a:defRPr sz="19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024" indent="-102024" algn="l" defTabSz="40809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1pPr>
      <a:lvl2pPr marL="306073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1071" kern="1200">
          <a:solidFill>
            <a:schemeClr val="tx1"/>
          </a:solidFill>
          <a:latin typeface="+mn-lt"/>
          <a:ea typeface="+mn-ea"/>
          <a:cs typeface="+mn-cs"/>
        </a:defRPr>
      </a:lvl2pPr>
      <a:lvl3pPr marL="510121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3pPr>
      <a:lvl4pPr marL="714169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4pPr>
      <a:lvl5pPr marL="918218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5pPr>
      <a:lvl6pPr marL="1122266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6pPr>
      <a:lvl7pPr marL="1326314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7pPr>
      <a:lvl8pPr marL="1530363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8pPr>
      <a:lvl9pPr marL="1734411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1pPr>
      <a:lvl2pPr marL="204048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2pPr>
      <a:lvl3pPr marL="408097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3pPr>
      <a:lvl4pPr marL="612145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4pPr>
      <a:lvl5pPr marL="816193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5pPr>
      <a:lvl6pPr marL="1020242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6pPr>
      <a:lvl7pPr marL="1224290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7pPr>
      <a:lvl8pPr marL="1428339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8pPr>
      <a:lvl9pPr marL="1632387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A8C5482-2FF9-8F85-F71D-6F1CFBC89FCA}"/>
              </a:ext>
            </a:extLst>
          </p:cNvPr>
          <p:cNvGrpSpPr/>
          <p:nvPr/>
        </p:nvGrpSpPr>
        <p:grpSpPr>
          <a:xfrm>
            <a:off x="103057" y="79557"/>
            <a:ext cx="10774635" cy="2901593"/>
            <a:chOff x="559659" y="772596"/>
            <a:chExt cx="10774635" cy="290159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CA9ADAA-7D39-0097-A7BF-8DFF3AE79157}"/>
                </a:ext>
              </a:extLst>
            </p:cNvPr>
            <p:cNvSpPr txBox="1"/>
            <p:nvPr/>
          </p:nvSpPr>
          <p:spPr>
            <a:xfrm>
              <a:off x="559659" y="2060119"/>
              <a:ext cx="5650906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l" rtl="0"/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Based on the logs, infer the valid values for each field by referencing these common types of data validation:</a:t>
              </a:r>
              <a:endParaRPr lang="en-US" altLang="zh-CN" sz="1200" dirty="0">
                <a:solidFill>
                  <a:srgbClr val="212121"/>
                </a:solidFill>
                <a:latin typeface="Consolas" panose="020B0609020204030204" pitchFamily="49" charset="0"/>
              </a:endParaRPr>
            </a:p>
            <a:p>
              <a:pPr algn="l" rtl="0"/>
              <a:r>
                <a:rPr lang="en-US" altLang="zh-CN" sz="1200" dirty="0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1. Data Type Check: ......</a:t>
              </a:r>
            </a:p>
            <a:p>
              <a:pPr algn="l" rtl="0"/>
              <a:r>
                <a:rPr lang="en-US" altLang="zh-CN" sz="1200" dirty="0">
                  <a:solidFill>
                    <a:srgbClr val="000000"/>
                  </a:solidFill>
                  <a:highlight>
                    <a:srgbClr val="FFEBEB"/>
                  </a:highlight>
                  <a:latin typeface="Consolas" panose="020B0609020204030204" pitchFamily="49" charset="0"/>
                </a:rPr>
                <a:t>2. Range Check: does the value fall within a logical numerical range? (e.g., temperature, latitude, price).</a:t>
              </a:r>
              <a:endParaRPr lang="en-US" altLang="zh-CN" sz="1200" dirty="0">
                <a:solidFill>
                  <a:srgbClr val="212121"/>
                </a:solidFill>
                <a:highlight>
                  <a:srgbClr val="FFEBEB"/>
                </a:highlight>
                <a:latin typeface="Consolas" panose="020B0609020204030204" pitchFamily="49" charset="0"/>
              </a:endParaRPr>
            </a:p>
            <a:p>
              <a:pPr algn="l" rtl="0"/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3. Format Check: ......</a:t>
              </a:r>
              <a:endParaRPr lang="en-US" altLang="zh-CN" sz="1200" dirty="0">
                <a:solidFill>
                  <a:srgbClr val="21212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AFC66AC-0B2E-0509-3B51-66621AB689BF}"/>
                </a:ext>
              </a:extLst>
            </p:cNvPr>
            <p:cNvSpPr txBox="1"/>
            <p:nvPr/>
          </p:nvSpPr>
          <p:spPr>
            <a:xfrm>
              <a:off x="6476874" y="772596"/>
              <a:ext cx="4857420" cy="249299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highlight>
                    <a:srgbClr val="B7DBFF"/>
                  </a:highlight>
                  <a:latin typeface="Consolas" panose="020B0609020204030204" pitchFamily="49" charset="0"/>
                </a:rPr>
                <a:t># Datatype check</a:t>
              </a:r>
            </a:p>
            <a:p>
              <a:pPr algn="l" rtl="0"/>
              <a:r>
                <a:rPr lang="en-US" altLang="zh-CN" sz="1200" dirty="0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if not </a:t>
              </a:r>
              <a:r>
                <a:rPr lang="en-US" altLang="zh-CN" sz="1200" dirty="0" err="1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isinstance</a:t>
              </a:r>
              <a:r>
                <a:rPr lang="en-US" altLang="zh-CN" sz="1200" dirty="0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(instance['</a:t>
              </a:r>
              <a:r>
                <a:rPr lang="en-US" altLang="zh-CN" sz="1200" dirty="0" err="1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orderId</a:t>
              </a:r>
              <a:r>
                <a:rPr lang="en-US" altLang="zh-CN" sz="1200" dirty="0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'], str):</a:t>
              </a:r>
              <a:endParaRPr lang="en-US" altLang="zh-CN" sz="1200" dirty="0">
                <a:solidFill>
                  <a:srgbClr val="212121"/>
                </a:solidFill>
                <a:highlight>
                  <a:srgbClr val="B7DBFF"/>
                </a:highlight>
                <a:latin typeface="Consolas" panose="020B0609020204030204" pitchFamily="49" charset="0"/>
              </a:endParaRPr>
            </a:p>
            <a:p>
              <a:pPr algn="l" rtl="0"/>
              <a:r>
                <a:rPr lang="en-US" altLang="zh-CN" sz="1200" dirty="0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    raise </a:t>
              </a:r>
              <a:r>
                <a:rPr lang="en-US" altLang="zh-CN" sz="1200" dirty="0" err="1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ValueError</a:t>
              </a:r>
              <a:r>
                <a:rPr lang="en-US" altLang="zh-CN" sz="1200" dirty="0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("</a:t>
              </a:r>
              <a:r>
                <a:rPr lang="en-US" altLang="zh-CN" sz="1200" dirty="0" err="1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orderId</a:t>
              </a:r>
              <a:r>
                <a:rPr lang="en-US" altLang="zh-CN" sz="1200" dirty="0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 must be a str")</a:t>
              </a:r>
              <a:endParaRPr lang="en-US" altLang="zh-CN" sz="1200" dirty="0">
                <a:solidFill>
                  <a:srgbClr val="212121"/>
                </a:solidFill>
                <a:highlight>
                  <a:srgbClr val="B7DBFF"/>
                </a:highlight>
                <a:latin typeface="Consolas" panose="020B0609020204030204" pitchFamily="49" charset="0"/>
              </a:endParaRPr>
            </a:p>
            <a:p>
              <a:pPr algn="l" rtl="0"/>
              <a:r>
                <a:rPr lang="en-US" altLang="zh-CN" sz="1200" dirty="0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if not </a:t>
              </a:r>
              <a:r>
                <a:rPr lang="en-US" altLang="zh-CN" sz="1200" dirty="0" err="1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isinstance</a:t>
              </a:r>
              <a:r>
                <a:rPr lang="en-US" altLang="zh-CN" sz="1200" dirty="0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(instance['</a:t>
              </a:r>
              <a:r>
                <a:rPr lang="en-US" altLang="zh-CN" sz="1200" dirty="0" err="1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userId</a:t>
              </a:r>
              <a:r>
                <a:rPr lang="en-US" altLang="zh-CN" sz="1200" dirty="0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'], str):</a:t>
              </a:r>
              <a:endParaRPr lang="en-US" altLang="zh-CN" sz="1200" dirty="0">
                <a:solidFill>
                  <a:srgbClr val="212121"/>
                </a:solidFill>
                <a:highlight>
                  <a:srgbClr val="B7DBFF"/>
                </a:highlight>
                <a:latin typeface="Consolas" panose="020B0609020204030204" pitchFamily="49" charset="0"/>
              </a:endParaRPr>
            </a:p>
            <a:p>
              <a:pPr algn="l" rtl="0"/>
              <a:r>
                <a:rPr lang="en-US" altLang="zh-CN" sz="1200" dirty="0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    raise </a:t>
              </a:r>
              <a:r>
                <a:rPr lang="en-US" altLang="zh-CN" sz="1200" dirty="0" err="1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ValueError</a:t>
              </a:r>
              <a:r>
                <a:rPr lang="en-US" altLang="zh-CN" sz="1200" dirty="0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("</a:t>
              </a:r>
              <a:r>
                <a:rPr lang="en-US" altLang="zh-CN" sz="1200" dirty="0" err="1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userId</a:t>
              </a:r>
              <a:r>
                <a:rPr lang="en-US" altLang="zh-CN" sz="1200" dirty="0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 must be a str")</a:t>
              </a:r>
              <a:endParaRPr lang="en-US" altLang="zh-CN" sz="1200" dirty="0">
                <a:highlight>
                  <a:srgbClr val="B7DBFF"/>
                </a:highlight>
                <a:latin typeface="Consolas" panose="020B0609020204030204" pitchFamily="49" charset="0"/>
              </a:endParaRPr>
            </a:p>
            <a:p>
              <a:pPr algn="l" rtl="0"/>
              <a:r>
                <a:rPr lang="en-US" altLang="zh-CN" sz="1200" dirty="0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if not </a:t>
              </a:r>
              <a:r>
                <a:rPr lang="en-US" altLang="zh-CN" sz="1200" dirty="0" err="1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isinstance</a:t>
              </a:r>
              <a:r>
                <a:rPr lang="en-US" altLang="zh-CN" sz="1200" dirty="0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(instance['price'], float):</a:t>
              </a:r>
              <a:endParaRPr lang="en-US" altLang="zh-CN" sz="1200" dirty="0">
                <a:solidFill>
                  <a:srgbClr val="212121"/>
                </a:solidFill>
                <a:highlight>
                  <a:srgbClr val="B7DBFF"/>
                </a:highlight>
                <a:latin typeface="Consolas" panose="020B0609020204030204" pitchFamily="49" charset="0"/>
              </a:endParaRPr>
            </a:p>
            <a:p>
              <a:pPr algn="l" rtl="0"/>
              <a:r>
                <a:rPr lang="en-US" altLang="zh-CN" sz="1200" dirty="0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    raise </a:t>
              </a:r>
              <a:r>
                <a:rPr lang="en-US" altLang="zh-CN" sz="1200" dirty="0" err="1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ValueError</a:t>
              </a:r>
              <a:r>
                <a:rPr lang="en-US" altLang="zh-CN" sz="1200" dirty="0">
                  <a:solidFill>
                    <a:srgbClr val="000000"/>
                  </a:solidFill>
                  <a:highlight>
                    <a:srgbClr val="B7DBFF"/>
                  </a:highlight>
                  <a:latin typeface="Consolas" panose="020B0609020204030204" pitchFamily="49" charset="0"/>
                </a:rPr>
                <a:t>("price must be a str")</a:t>
              </a:r>
              <a:endParaRPr lang="en-US" altLang="zh-CN" sz="1200" dirty="0">
                <a:solidFill>
                  <a:srgbClr val="212121"/>
                </a:solidFill>
                <a:highlight>
                  <a:srgbClr val="B7DBFF"/>
                </a:highlight>
                <a:latin typeface="Consolas" panose="020B0609020204030204" pitchFamily="49" charset="0"/>
              </a:endParaRPr>
            </a:p>
            <a:p>
              <a:endPara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altLang="zh-CN" sz="1200" dirty="0">
                  <a:solidFill>
                    <a:srgbClr val="000000"/>
                  </a:solidFill>
                  <a:highlight>
                    <a:srgbClr val="FFEBEB"/>
                  </a:highlight>
                  <a:latin typeface="Consolas" panose="020B0609020204030204" pitchFamily="49" charset="0"/>
                </a:rPr>
                <a:t># Range Check</a:t>
              </a:r>
            </a:p>
            <a:p>
              <a:r>
                <a:rPr lang="en-US" altLang="zh-CN" sz="1200" dirty="0" err="1">
                  <a:solidFill>
                    <a:srgbClr val="000000"/>
                  </a:solidFill>
                  <a:highlight>
                    <a:srgbClr val="FFEBEB"/>
                  </a:highlight>
                  <a:latin typeface="Consolas" panose="020B0609020204030204" pitchFamily="49" charset="0"/>
                </a:rPr>
                <a:t>price_value</a:t>
              </a:r>
              <a:r>
                <a:rPr lang="en-US" altLang="zh-CN" sz="1200" dirty="0">
                  <a:solidFill>
                    <a:srgbClr val="000000"/>
                  </a:solidFill>
                  <a:highlight>
                    <a:srgbClr val="FFEBEB"/>
                  </a:highlight>
                  <a:latin typeface="Consolas" panose="020B0609020204030204" pitchFamily="49" charset="0"/>
                </a:rPr>
                <a:t> = float(instance['price'])</a:t>
              </a:r>
              <a:endParaRPr lang="en-US" altLang="zh-CN" sz="1200" dirty="0">
                <a:solidFill>
                  <a:srgbClr val="212121"/>
                </a:solidFill>
                <a:highlight>
                  <a:srgbClr val="FFEBEB"/>
                </a:highlight>
                <a:latin typeface="Consolas" panose="020B0609020204030204" pitchFamily="49" charset="0"/>
              </a:endParaRPr>
            </a:p>
            <a:p>
              <a:pPr algn="l" rtl="0"/>
              <a:r>
                <a:rPr lang="en-US" altLang="zh-CN" sz="1200" dirty="0">
                  <a:solidFill>
                    <a:srgbClr val="000000"/>
                  </a:solidFill>
                  <a:highlight>
                    <a:srgbClr val="FFEBEB"/>
                  </a:highlight>
                  <a:latin typeface="Consolas" panose="020B0609020204030204" pitchFamily="49" charset="0"/>
                </a:rPr>
                <a:t>if </a:t>
              </a:r>
              <a:r>
                <a:rPr lang="en-US" altLang="zh-CN" sz="1200" dirty="0" err="1">
                  <a:solidFill>
                    <a:srgbClr val="000000"/>
                  </a:solidFill>
                  <a:highlight>
                    <a:srgbClr val="FFEBEB"/>
                  </a:highlight>
                  <a:latin typeface="Consolas" panose="020B0609020204030204" pitchFamily="49" charset="0"/>
                </a:rPr>
                <a:t>price_value</a:t>
              </a:r>
              <a:r>
                <a:rPr lang="en-US" altLang="zh-CN" sz="1200" dirty="0">
                  <a:solidFill>
                    <a:srgbClr val="000000"/>
                  </a:solidFill>
                  <a:highlight>
                    <a:srgbClr val="FFEBEB"/>
                  </a:highlight>
                  <a:latin typeface="Consolas" panose="020B0609020204030204" pitchFamily="49" charset="0"/>
                </a:rPr>
                <a:t> &lt;= 0:</a:t>
              </a:r>
              <a:endParaRPr lang="en-US" altLang="zh-CN" sz="1200" dirty="0">
                <a:solidFill>
                  <a:srgbClr val="212121"/>
                </a:solidFill>
                <a:highlight>
                  <a:srgbClr val="FFEBEB"/>
                </a:highlight>
                <a:latin typeface="Consolas" panose="020B0609020204030204" pitchFamily="49" charset="0"/>
              </a:endParaRPr>
            </a:p>
            <a:p>
              <a:pPr algn="l" rtl="0"/>
              <a:r>
                <a:rPr lang="en-US" altLang="zh-CN" sz="1200" dirty="0">
                  <a:solidFill>
                    <a:srgbClr val="000000"/>
                  </a:solidFill>
                  <a:highlight>
                    <a:srgbClr val="FFEBEB"/>
                  </a:highlight>
                  <a:latin typeface="Consolas" panose="020B0609020204030204" pitchFamily="49" charset="0"/>
                </a:rPr>
                <a:t>    raise </a:t>
              </a:r>
              <a:r>
                <a:rPr lang="en-US" altLang="zh-CN" sz="1200" dirty="0" err="1">
                  <a:solidFill>
                    <a:srgbClr val="000000"/>
                  </a:solidFill>
                  <a:highlight>
                    <a:srgbClr val="FFEBEB"/>
                  </a:highlight>
                  <a:latin typeface="Consolas" panose="020B0609020204030204" pitchFamily="49" charset="0"/>
                </a:rPr>
                <a:t>ValueError</a:t>
              </a:r>
              <a:r>
                <a:rPr lang="en-US" altLang="zh-CN" sz="1200" dirty="0">
                  <a:solidFill>
                    <a:srgbClr val="000000"/>
                  </a:solidFill>
                  <a:highlight>
                    <a:srgbClr val="FFEBEB"/>
                  </a:highlight>
                  <a:latin typeface="Consolas" panose="020B0609020204030204" pitchFamily="49" charset="0"/>
                </a:rPr>
                <a:t>("price must be a positive number")</a:t>
              </a:r>
            </a:p>
            <a:p>
              <a:pPr algn="l" rtl="0"/>
              <a:r>
                <a:rPr lang="en-US" altLang="zh-CN" sz="1200" dirty="0">
                  <a:solidFill>
                    <a:srgbClr val="212121"/>
                  </a:solidFill>
                  <a:latin typeface="Consolas" panose="020B0609020204030204" pitchFamily="49" charset="0"/>
                </a:rPr>
                <a:t>......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6BC4BE0-F31A-AF3E-D898-706AF285C27A}"/>
                </a:ext>
              </a:extLst>
            </p:cNvPr>
            <p:cNvSpPr txBox="1"/>
            <p:nvPr/>
          </p:nvSpPr>
          <p:spPr>
            <a:xfrm>
              <a:off x="2859167" y="3366412"/>
              <a:ext cx="10518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(a) Prompt</a:t>
              </a:r>
              <a:endParaRPr lang="zh-CN" altLang="en-US" sz="1400" b="1" dirty="0"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AA6747-B77D-5E5A-BBB0-1A3EA5B8C265}"/>
                </a:ext>
              </a:extLst>
            </p:cNvPr>
            <p:cNvSpPr txBox="1"/>
            <p:nvPr/>
          </p:nvSpPr>
          <p:spPr>
            <a:xfrm>
              <a:off x="7131701" y="3366412"/>
              <a:ext cx="35477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(b) Corresponding Generated Constraints</a:t>
              </a:r>
              <a:endParaRPr lang="zh-CN" altLang="en-US" sz="1400" b="1" dirty="0"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4024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165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Linux Libertine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Wenjie Zhang</dc:creator>
  <cp:lastModifiedBy>Wenjie Zhang</cp:lastModifiedBy>
  <cp:revision>2</cp:revision>
  <dcterms:created xsi:type="dcterms:W3CDTF">2025-09-12T00:28:08Z</dcterms:created>
  <dcterms:modified xsi:type="dcterms:W3CDTF">2025-09-12T01:21:58Z</dcterms:modified>
</cp:coreProperties>
</file>